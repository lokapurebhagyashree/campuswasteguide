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 slide. Fill in your name and college before submission.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 statement slide. The core question follows the guideline format: How might we use AI to ___ so that ___ can become more sustainable?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SDG mapping: primary SDG 12. Secondary: SDG 11, 13, 4. Target users are all campus stakeholders.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Detailed solution: RAG pipeline with knowledge_base.txt as the retrieval source. Pure Python, zero external dependencies.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 tools: RAG, conversational AI, IBM BOB, prompt engineering, Python. No paid API or internet required.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Workflow diagram + actual CLI demo output showing all 5 bins being correctly identified.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Full 5-bin breakdown with item counts. Knowledge base is the single source of truth.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Mandatory Responsible AI section covering all 4 guideline requirements: Fairness, Transparency, Ethics, Privacy — plus Human Oversight and Explainability.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Impact statement and all 5 design thinking stages mapped to actual project activities.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Replace GitHub URL with your actual repo link before submission. Demo runs locally — no internet or API key needed.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 slide. Fill in your name and college before submission.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GreenBar"/>
          <p:cNvSpPr txBox="1"/>
          <p:nvPr/>
        </p:nvSpPr>
        <p:spPr>
          <a:xfrm>
            <a:off x="0" y="5400000"/>
            <a:ext cx="12193200" cy="1508400"/>
          </a:xfrm>
          <a:prstGeom prst="rect">
            <a:avLst/>
          </a:prstGeom>
          <a:solidFill>
            <a:srgbClr val="1A5C42"/>
          </a:solidFill>
        </p:spPr>
        <p:txBody>
          <a:bodyPr/>
          <a:lstStyle/>
          <a:p>
            <a:endParaRPr lang="en-US">
              <a:solidFill>
                <a:srgbClr val="1A5C42"/>
              </a:solidFill>
            </a:endParaRPr>
          </a:p>
        </p:txBody>
      </p:sp>
      <p:sp>
        <p:nvSpPr>
          <p:cNvPr id="100001" name="Icon"/>
          <p:cNvSpPr txBox="1"/>
          <p:nvPr/>
        </p:nvSpPr>
        <p:spPr>
          <a:xfrm>
            <a:off x="540000" y="288000"/>
            <a:ext cx="1800000" cy="1800000"/>
          </a:xfrm>
          <a:prstGeom prst="rect">
            <a:avLst/>
          </a:prstGeom>
        </p:spPr>
        <p:txBody>
          <a:bodyPr/>
          <a:lstStyle/>
          <a:p>
            <a:r>
              <a:rPr lang="en-US" sz="7200">
                <a:solidFill>
                  <a:srgbClr val="4ADE80"/>
                </a:solidFill>
                <a:latin typeface="Segoe UI Emoji"/>
                <a:ea typeface="Segoe UI Emoji"/>
              </a:rPr>
              <a:t>♻</a:t>
            </a:r>
          </a:p>
        </p:txBody>
      </p:sp>
      <p:sp>
        <p:nvSpPr>
          <p:cNvPr id="100002" name="Title"/>
          <p:cNvSpPr txBox="1"/>
          <p:nvPr/>
        </p:nvSpPr>
        <p:spPr>
          <a:xfrm>
            <a:off x="2520000" y="432000"/>
            <a:ext cx="9000000" cy="1080000"/>
          </a:xfrm>
          <a:prstGeom prst="rect">
            <a:avLst/>
          </a:prstGeom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CampusWasteGuide</a:t>
            </a:r>
          </a:p>
        </p:txBody>
      </p:sp>
      <p:sp>
        <p:nvSpPr>
          <p:cNvPr id="100003" name="Subtitle"/>
          <p:cNvSpPr txBox="1"/>
          <p:nvPr/>
        </p:nvSpPr>
        <p:spPr>
          <a:xfrm>
            <a:off x="2520000" y="1620000"/>
            <a:ext cx="9000000" cy="648000"/>
          </a:xfrm>
          <a:prstGeom prst="rect">
            <a:avLst/>
          </a:prstGeom>
        </p:spPr>
        <p:txBody>
          <a:bodyPr/>
          <a:lstStyle/>
          <a:p>
            <a:r>
              <a:rPr lang="en-US" sz="2200" b="0">
                <a:solidFill>
                  <a:srgbClr val="86EFAC"/>
                </a:solidFill>
                <a:latin typeface="Calibri"/>
                <a:ea typeface="Calibri"/>
              </a:rPr>
              <a:t>AI-Powered Campus Waste Segregation Chatbot</a:t>
            </a:r>
          </a:p>
        </p:txBody>
      </p:sp>
      <p:sp>
        <p:nvSpPr>
          <p:cNvPr id="100004" name="Meta"/>
          <p:cNvSpPr txBox="1"/>
          <p:nvPr/>
        </p:nvSpPr>
        <p:spPr>
          <a:xfrm>
            <a:off x="540000" y="2880000"/>
            <a:ext cx="10800000" cy="43200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A7F3D0"/>
                </a:solidFill>
                <a:latin typeface="Calibri"/>
                <a:ea typeface="Calibri"/>
              </a:rPr>
              <a:t>1M1B – IBM SkillsBuild &amp; AICTE  |  AI for Sustainability Virtual Internship  |  July–Sep 2026</a:t>
            </a:r>
          </a:p>
        </p:txBody>
      </p:sp>
      <p:sp>
        <p:nvSpPr>
          <p:cNvPr id="100005" name="SDGs"/>
          <p:cNvSpPr txBox="1"/>
          <p:nvPr/>
        </p:nvSpPr>
        <p:spPr>
          <a:xfrm>
            <a:off x="540000" y="3420000"/>
            <a:ext cx="720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4ADE80"/>
                </a:solidFill>
                <a:latin typeface="Calibri"/>
                <a:ea typeface="Calibri"/>
              </a:rPr>
              <a:t>SDG 4  ·  SDG 11  ·  SDG 12  ·  SDG 13</a:t>
            </a:r>
          </a:p>
        </p:txBody>
      </p:sp>
      <p:sp>
        <p:nvSpPr>
          <p:cNvPr id="100006" name="BottomL"/>
          <p:cNvSpPr txBox="1"/>
          <p:nvPr/>
        </p:nvSpPr>
        <p:spPr>
          <a:xfrm>
            <a:off x="540000" y="558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</a:rPr>
              <a:t>Submitted by: </a:t>
            </a:r>
            <a:r>
              <a:rPr lang="en-US" sz="1500" dirty="0" err="1">
                <a:solidFill>
                  <a:srgbClr val="FFFFFF"/>
                </a:solidFill>
                <a:latin typeface="Calibri"/>
                <a:ea typeface="Calibri"/>
              </a:rPr>
              <a:t>Bhagyashree</a:t>
            </a:r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/>
                <a:ea typeface="Calibri"/>
              </a:rPr>
              <a:t>Sushilkumar</a:t>
            </a:r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/>
                <a:ea typeface="Calibri"/>
              </a:rPr>
              <a:t>Lokapure</a:t>
            </a:r>
            <a:endParaRPr lang="en-US" sz="1500" dirty="0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00007" name="BottomR"/>
          <p:cNvSpPr txBox="1"/>
          <p:nvPr/>
        </p:nvSpPr>
        <p:spPr>
          <a:xfrm>
            <a:off x="6120000" y="558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</a:rPr>
              <a:t>College: Indira Gandhi National Open University (IGNOU)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" name="TopBar"/>
          <p:cNvSpPr txBox="1"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endParaRPr lang="en-US">
              <a:solidFill>
                <a:srgbClr val="0D3B2E"/>
              </a:solidFill>
            </a:endParaRPr>
          </a:p>
        </p:txBody>
      </p:sp>
      <p:sp>
        <p:nvSpPr>
          <p:cNvPr id="100009" name="TopLabel"/>
          <p:cNvSpPr txBox="1"/>
          <p:nvPr/>
        </p:nvSpPr>
        <p:spPr>
          <a:xfrm>
            <a:off x="540000" y="36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SLIDE 2  |  PROBLEM STATEMENT</a:t>
            </a:r>
          </a:p>
        </p:txBody>
      </p:sp>
      <p:sp>
        <p:nvSpPr>
          <p:cNvPr id="100010" name="SlideTitle"/>
          <p:cNvSpPr txBox="1"/>
          <p:nvPr/>
        </p:nvSpPr>
        <p:spPr>
          <a:xfrm>
            <a:off x="540000" y="576000"/>
            <a:ext cx="10800000" cy="720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0D3B2E"/>
                </a:solidFill>
                <a:latin typeface="Calibri"/>
                <a:ea typeface="Calibri"/>
              </a:rPr>
              <a:t>Problem Statement</a:t>
            </a:r>
          </a:p>
        </p:txBody>
      </p:sp>
      <p:sp>
        <p:nvSpPr>
          <p:cNvPr id="100011" name="ProbFmt"/>
          <p:cNvSpPr txBox="1"/>
          <p:nvPr/>
        </p:nvSpPr>
        <p:spPr>
          <a:xfrm>
            <a:off x="540000" y="1368000"/>
            <a:ext cx="10800000" cy="1008000"/>
          </a:xfrm>
          <a:prstGeom prst="rect">
            <a:avLst/>
          </a:prstGeom>
          <a:solidFill>
            <a:srgbClr val="F0FDF4"/>
          </a:solidFill>
        </p:spPr>
        <p:txBody>
          <a:bodyPr/>
          <a:lstStyle/>
          <a:p>
            <a:r>
              <a:rPr lang="en-US" sz="2000" b="1">
                <a:solidFill>
                  <a:srgbClr val="1A5C42"/>
                </a:solidFill>
                <a:latin typeface="Calibri"/>
                <a:ea typeface="Calibri"/>
              </a:rPr>
              <a:t>How might we use AI to guide campus users in correctly segregating waste so that campuses can become more sustainable and reduce landfill contribution?</a:t>
            </a:r>
          </a:p>
        </p:txBody>
      </p:sp>
      <p:sp>
        <p:nvSpPr>
          <p:cNvPr id="100012" name="Context"/>
          <p:cNvSpPr txBox="1"/>
          <p:nvPr/>
        </p:nvSpPr>
        <p:spPr>
          <a:xfrm>
            <a:off x="540000" y="2520000"/>
            <a:ext cx="10800000" cy="252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Context &amp; Evidence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Campus waste bins are routinely contaminated — recyclables, compostables, and e-waste are mixed into general waste due to lack of awareness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Bin labels are static and cannot answer ambiguous questions (e.g. "Is a coffee cup recyclable?")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E-waste — batteries, chargers, pen drives — is discarded in general bins, causing environmental and health hazards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No real-time, on-demand, accessible guidance exists for students and staff at the point of disposal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Campus sustainability audits globally report 40–60% waste misclassification rates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" name="TopBar"/>
          <p:cNvSpPr txBox="1"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endParaRPr lang="en-US">
              <a:solidFill>
                <a:srgbClr val="0D3B2E"/>
              </a:solidFill>
            </a:endParaRPr>
          </a:p>
        </p:txBody>
      </p:sp>
      <p:sp>
        <p:nvSpPr>
          <p:cNvPr id="100014" name="TopLabel"/>
          <p:cNvSpPr txBox="1"/>
          <p:nvPr/>
        </p:nvSpPr>
        <p:spPr>
          <a:xfrm>
            <a:off x="540000" y="36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SLIDE 3  |  SDG ALIGNMENT &amp; TARGET USERS</a:t>
            </a:r>
          </a:p>
        </p:txBody>
      </p:sp>
      <p:sp>
        <p:nvSpPr>
          <p:cNvPr id="100015" name="SlideTitle"/>
          <p:cNvSpPr txBox="1"/>
          <p:nvPr/>
        </p:nvSpPr>
        <p:spPr>
          <a:xfrm>
            <a:off x="540000" y="576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0D3B2E"/>
                </a:solidFill>
                <a:latin typeface="Calibri"/>
                <a:ea typeface="Calibri"/>
              </a:rPr>
              <a:t>SDG Alignment &amp; Target Users</a:t>
            </a:r>
          </a:p>
        </p:txBody>
      </p:sp>
      <p:sp>
        <p:nvSpPr>
          <p:cNvPr id="100016" name="SDG12"/>
          <p:cNvSpPr txBox="1"/>
          <p:nvPr/>
        </p:nvSpPr>
        <p:spPr>
          <a:xfrm>
            <a:off x="540000" y="1368000"/>
            <a:ext cx="2520000" cy="1620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SDG 12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Responsible Consumption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&amp; Production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PRIMARY</a:t>
            </a:r>
          </a:p>
        </p:txBody>
      </p:sp>
      <p:sp>
        <p:nvSpPr>
          <p:cNvPr id="100017" name="SDG11"/>
          <p:cNvSpPr txBox="1"/>
          <p:nvPr/>
        </p:nvSpPr>
        <p:spPr>
          <a:xfrm>
            <a:off x="3420000" y="1368000"/>
            <a:ext cx="2520000" cy="1620000"/>
          </a:xfrm>
          <a:prstGeom prst="rect">
            <a:avLst/>
          </a:prstGeom>
          <a:solidFill>
            <a:srgbClr val="1A5C42"/>
          </a:solidFill>
        </p:spPr>
        <p:txBody>
          <a:bodyPr/>
          <a:lstStyle/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SDG 11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Sustainable Cities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&amp; Communities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Secondary</a:t>
            </a:r>
          </a:p>
        </p:txBody>
      </p:sp>
      <p:sp>
        <p:nvSpPr>
          <p:cNvPr id="100018" name="SDG13"/>
          <p:cNvSpPr txBox="1"/>
          <p:nvPr/>
        </p:nvSpPr>
        <p:spPr>
          <a:xfrm>
            <a:off x="6300000" y="1368000"/>
            <a:ext cx="2520000" cy="1620000"/>
          </a:xfrm>
          <a:prstGeom prst="rect">
            <a:avLst/>
          </a:prstGeom>
          <a:solidFill>
            <a:srgbClr val="065F46"/>
          </a:solidFill>
        </p:spPr>
        <p:txBody>
          <a:bodyPr/>
          <a:lstStyle/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SDG 13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Climate Action</a:t>
            </a:r>
          </a:p>
          <a:p>
            <a:endParaRPr lang="en-US" sz="15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Secondary</a:t>
            </a:r>
          </a:p>
        </p:txBody>
      </p:sp>
      <p:sp>
        <p:nvSpPr>
          <p:cNvPr id="100019" name="SDG4"/>
          <p:cNvSpPr txBox="1"/>
          <p:nvPr/>
        </p:nvSpPr>
        <p:spPr>
          <a:xfrm>
            <a:off x="9180000" y="1368000"/>
            <a:ext cx="2520000" cy="1620000"/>
          </a:xfrm>
          <a:prstGeom prst="rect">
            <a:avLst/>
          </a:prstGeom>
          <a:solidFill>
            <a:srgbClr val="166534"/>
          </a:solidFill>
        </p:spPr>
        <p:txBody>
          <a:bodyPr/>
          <a:lstStyle/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SDG 4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Quality Education</a:t>
            </a:r>
          </a:p>
          <a:p>
            <a:endParaRPr lang="en-US" sz="15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Secondary</a:t>
            </a:r>
          </a:p>
        </p:txBody>
      </p:sp>
      <p:sp>
        <p:nvSpPr>
          <p:cNvPr id="100020" name="UsersTitle"/>
          <p:cNvSpPr txBox="1"/>
          <p:nvPr/>
        </p:nvSpPr>
        <p:spPr>
          <a:xfrm>
            <a:off x="540000" y="3312000"/>
            <a:ext cx="5400000" cy="432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0D3B2E"/>
                </a:solidFill>
                <a:latin typeface="Calibri"/>
                <a:ea typeface="Calibri"/>
              </a:rPr>
              <a:t>Target Users</a:t>
            </a:r>
          </a:p>
        </p:txBody>
      </p:sp>
      <p:sp>
        <p:nvSpPr>
          <p:cNvPr id="100021" name="Users"/>
          <p:cNvSpPr txBox="1"/>
          <p:nvPr/>
        </p:nvSpPr>
        <p:spPr>
          <a:xfrm>
            <a:off x="540000" y="3780000"/>
            <a:ext cx="10800000" cy="180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🎓  Students — especially new intakes unfamiliar with campus waste systems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👩‍🏫  Lecturers &amp; Administrative Staff — daily office waste generators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🏢  Canteen &amp; Facility Workers — handle large volumes of mixed waste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🏫  Campus Sustainability Teams — seeking scalable awareness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2" name="TopBar"/>
          <p:cNvSpPr txBox="1"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endParaRPr lang="en-US">
              <a:solidFill>
                <a:srgbClr val="0D3B2E"/>
              </a:solidFill>
            </a:endParaRPr>
          </a:p>
        </p:txBody>
      </p:sp>
      <p:sp>
        <p:nvSpPr>
          <p:cNvPr id="100023" name="TopLabel"/>
          <p:cNvSpPr txBox="1"/>
          <p:nvPr/>
        </p:nvSpPr>
        <p:spPr>
          <a:xfrm>
            <a:off x="540000" y="36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SLIDE 4  |  DETAILED SOLUTION DESCRIPTION</a:t>
            </a:r>
          </a:p>
        </p:txBody>
      </p:sp>
      <p:sp>
        <p:nvSpPr>
          <p:cNvPr id="100024" name="SlideTitle"/>
          <p:cNvSpPr txBox="1"/>
          <p:nvPr/>
        </p:nvSpPr>
        <p:spPr>
          <a:xfrm>
            <a:off x="540000" y="576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0D3B2E"/>
                </a:solidFill>
                <a:latin typeface="Calibri"/>
                <a:ea typeface="Calibri"/>
              </a:rPr>
              <a:t>Detailed Solution Description</a:t>
            </a:r>
          </a:p>
        </p:txBody>
      </p:sp>
      <p:sp>
        <p:nvSpPr>
          <p:cNvPr id="100025" name="What"/>
          <p:cNvSpPr txBox="1"/>
          <p:nvPr/>
        </p:nvSpPr>
        <p:spPr>
          <a:xfrm>
            <a:off x="540000" y="1296000"/>
            <a:ext cx="10800000" cy="1080000"/>
          </a:xfrm>
          <a:prstGeom prst="rect">
            <a:avLst/>
          </a:prstGeom>
          <a:solidFill>
            <a:srgbClr val="F0FDF4"/>
          </a:solidFill>
        </p:spPr>
        <p:txBody>
          <a:bodyPr/>
          <a:lstStyle/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What it does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CampusWasteGuide is a conversational AI chatbot that accepts a natural-language description of any waste item and instantly returns the correct disposal bin — from a verified 200-item campus waste knowledge base covering all 5 bin categories.</a:t>
            </a:r>
          </a:p>
        </p:txBody>
      </p:sp>
      <p:sp>
        <p:nvSpPr>
          <p:cNvPr id="100026" name="RAGTitle"/>
          <p:cNvSpPr txBox="1"/>
          <p:nvPr/>
        </p:nvSpPr>
        <p:spPr>
          <a:xfrm>
            <a:off x="540000" y="2520000"/>
            <a:ext cx="10800000" cy="432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0D3B2E"/>
                </a:solidFill>
                <a:latin typeface="Calibri"/>
                <a:ea typeface="Calibri"/>
              </a:rPr>
              <a:t>RAG Pipeline — 3 Stages</a:t>
            </a:r>
          </a:p>
        </p:txBody>
      </p:sp>
      <p:sp>
        <p:nvSpPr>
          <p:cNvPr id="100027" name="Stage1"/>
          <p:cNvSpPr txBox="1"/>
          <p:nvPr/>
        </p:nvSpPr>
        <p:spPr>
          <a:xfrm>
            <a:off x="540000" y="3024000"/>
            <a:ext cx="3060000" cy="1620000"/>
          </a:xfrm>
          <a:prstGeom prst="rect">
            <a:avLst/>
          </a:prstGeom>
          <a:solidFill>
            <a:srgbClr val="1D4ED8"/>
          </a:solidFill>
        </p:spPr>
        <p:txBody>
          <a:bodyPr/>
          <a:lstStyle/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1  KNOWLEDGE BASE</a:t>
            </a:r>
          </a:p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knowledge_base.txt</a:t>
            </a:r>
          </a:p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200 items · 5 bins</a:t>
            </a:r>
          </a:p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Human-auditable</a:t>
            </a:r>
          </a:p>
        </p:txBody>
      </p:sp>
      <p:sp>
        <p:nvSpPr>
          <p:cNvPr id="100028" name="Arr1"/>
          <p:cNvSpPr txBox="1"/>
          <p:nvPr/>
        </p:nvSpPr>
        <p:spPr>
          <a:xfrm>
            <a:off x="3708000" y="3672000"/>
            <a:ext cx="720000" cy="360000"/>
          </a:xfrm>
          <a:prstGeom prst="rect">
            <a:avLst/>
          </a:prstGeom>
        </p:spPr>
        <p:txBody>
          <a:bodyPr/>
          <a:lstStyle/>
          <a:p>
            <a:r>
              <a:rPr lang="en-US" sz="2400" b="1">
                <a:solidFill>
                  <a:srgbClr val="0D3B2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29" name="Stage2"/>
          <p:cNvSpPr txBox="1"/>
          <p:nvPr/>
        </p:nvSpPr>
        <p:spPr>
          <a:xfrm>
            <a:off x="4500000" y="3024000"/>
            <a:ext cx="3060000" cy="1620000"/>
          </a:xfrm>
          <a:prstGeom prst="rect">
            <a:avLst/>
          </a:prstGeom>
          <a:solidFill>
            <a:srgbClr val="15803D"/>
          </a:solidFill>
        </p:spPr>
        <p:txBody>
          <a:bodyPr/>
          <a:lstStyle/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2  RETRIEVAL</a:t>
            </a:r>
          </a:p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Keyword substring</a:t>
            </a:r>
          </a:p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matching</a:t>
            </a:r>
          </a:p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Case-insensitive</a:t>
            </a:r>
          </a:p>
        </p:txBody>
      </p:sp>
      <p:sp>
        <p:nvSpPr>
          <p:cNvPr id="100030" name="Arr2"/>
          <p:cNvSpPr txBox="1"/>
          <p:nvPr/>
        </p:nvSpPr>
        <p:spPr>
          <a:xfrm>
            <a:off x="7668000" y="3672000"/>
            <a:ext cx="720000" cy="360000"/>
          </a:xfrm>
          <a:prstGeom prst="rect">
            <a:avLst/>
          </a:prstGeom>
        </p:spPr>
        <p:txBody>
          <a:bodyPr/>
          <a:lstStyle/>
          <a:p>
            <a:r>
              <a:rPr lang="en-US" sz="2400" b="1">
                <a:solidFill>
                  <a:srgbClr val="0D3B2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31" name="Stage3"/>
          <p:cNvSpPr txBox="1"/>
          <p:nvPr/>
        </p:nvSpPr>
        <p:spPr>
          <a:xfrm>
            <a:off x="8460000" y="3024000"/>
            <a:ext cx="3060000" cy="1620000"/>
          </a:xfrm>
          <a:prstGeom prst="rect">
            <a:avLst/>
          </a:prstGeom>
          <a:solidFill>
            <a:srgbClr val="B45309"/>
          </a:solidFill>
        </p:spPr>
        <p:txBody>
          <a:bodyPr/>
          <a:lstStyle/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3  GENERATION</a:t>
            </a:r>
          </a:p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Friendly bin-name</a:t>
            </a:r>
          </a:p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response or polite</a:t>
            </a:r>
          </a:p>
          <a:p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2" name="TopBar"/>
          <p:cNvSpPr txBox="1"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endParaRPr lang="en-US">
              <a:solidFill>
                <a:srgbClr val="0D3B2E"/>
              </a:solidFill>
            </a:endParaRPr>
          </a:p>
        </p:txBody>
      </p:sp>
      <p:sp>
        <p:nvSpPr>
          <p:cNvPr id="100033" name="TopLabel"/>
          <p:cNvSpPr txBox="1"/>
          <p:nvPr/>
        </p:nvSpPr>
        <p:spPr>
          <a:xfrm>
            <a:off x="540000" y="36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SLIDE 5  |  AI ELEMENTS &amp; TOOLS USED</a:t>
            </a:r>
          </a:p>
        </p:txBody>
      </p:sp>
      <p:sp>
        <p:nvSpPr>
          <p:cNvPr id="100034" name="SlideTitle"/>
          <p:cNvSpPr txBox="1"/>
          <p:nvPr/>
        </p:nvSpPr>
        <p:spPr>
          <a:xfrm>
            <a:off x="540000" y="576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0D3B2E"/>
                </a:solidFill>
                <a:latin typeface="Calibri"/>
                <a:ea typeface="Calibri"/>
              </a:rPr>
              <a:t>AI Elements &amp; Tools Used</a:t>
            </a:r>
          </a:p>
        </p:txBody>
      </p:sp>
      <p:sp>
        <p:nvSpPr>
          <p:cNvPr id="100035" name="AI1"/>
          <p:cNvSpPr txBox="1"/>
          <p:nvPr/>
        </p:nvSpPr>
        <p:spPr>
          <a:xfrm>
            <a:off x="540000" y="1368000"/>
            <a:ext cx="5220000" cy="1152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🔍  RAG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Retrieval-Augmented Generation — knowledge_base.txt is the retrieval corpus; no LLM hallucination possible</a:t>
            </a:r>
          </a:p>
        </p:txBody>
      </p:sp>
      <p:sp>
        <p:nvSpPr>
          <p:cNvPr id="100036" name="AI2"/>
          <p:cNvSpPr txBox="1"/>
          <p:nvPr/>
        </p:nvSpPr>
        <p:spPr>
          <a:xfrm>
            <a:off x="6300000" y="1368000"/>
            <a:ext cx="5220000" cy="1152000"/>
          </a:xfrm>
          <a:prstGeom prst="rect">
            <a:avLst/>
          </a:prstGeom>
          <a:solidFill>
            <a:srgbClr val="F0FDF4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💬  Conversational AI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Natural-language input loop — free-text queries, no fixed command syntax required</a:t>
            </a:r>
          </a:p>
        </p:txBody>
      </p:sp>
      <p:sp>
        <p:nvSpPr>
          <p:cNvPr id="100037" name="AI3"/>
          <p:cNvSpPr txBox="1"/>
          <p:nvPr/>
        </p:nvSpPr>
        <p:spPr>
          <a:xfrm>
            <a:off x="540000" y="2700000"/>
            <a:ext cx="5220000" cy="1152000"/>
          </a:xfrm>
          <a:prstGeom prst="rect">
            <a:avLst/>
          </a:prstGeom>
          <a:solidFill>
            <a:srgbClr val="FFF7ED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🛠  IBM BOB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Used to design, code, analyse, and document the entire project — prompt engineering for knowledge base curation</a:t>
            </a:r>
          </a:p>
        </p:txBody>
      </p:sp>
      <p:sp>
        <p:nvSpPr>
          <p:cNvPr id="100038" name="AI4"/>
          <p:cNvSpPr txBox="1"/>
          <p:nvPr/>
        </p:nvSpPr>
        <p:spPr>
          <a:xfrm>
            <a:off x="6300000" y="2700000"/>
            <a:ext cx="5220000" cy="1152000"/>
          </a:xfrm>
          <a:prstGeom prst="rect">
            <a:avLst/>
          </a:prstGeom>
          <a:solidFill>
            <a:srgbClr val="F5F3FF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⚙  Prompt Engineering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Knowledge base rules authored using structured prompt workflows — item classification logic designed via prompts</a:t>
            </a:r>
          </a:p>
        </p:txBody>
      </p:sp>
      <p:sp>
        <p:nvSpPr>
          <p:cNvPr id="100039" name="AI5"/>
          <p:cNvSpPr txBox="1"/>
          <p:nvPr/>
        </p:nvSpPr>
        <p:spPr>
          <a:xfrm>
            <a:off x="540000" y="4032000"/>
            <a:ext cx="5220000" cy="1152000"/>
          </a:xfrm>
          <a:prstGeom prst="rect">
            <a:avLst/>
          </a:prstGeom>
          <a:solidFill>
            <a:srgbClr val="ECFDF5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🐍  Python 3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waste_assistant.py — dynamic KB loader, regex parser, keyword matcher, interactive CLI loop</a:t>
            </a:r>
          </a:p>
        </p:txBody>
      </p:sp>
      <p:sp>
        <p:nvSpPr>
          <p:cNvPr id="100040" name="AI6"/>
          <p:cNvSpPr txBox="1"/>
          <p:nvPr/>
        </p:nvSpPr>
        <p:spPr>
          <a:xfrm>
            <a:off x="6300000" y="4032000"/>
            <a:ext cx="5220000" cy="1152000"/>
          </a:xfrm>
          <a:prstGeom prst="rect">
            <a:avLst/>
          </a:prstGeom>
          <a:solidFill>
            <a:srgbClr val="FFF1F2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📄  Knowledge Base (200 items)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knowledge_base.txt — human-readable, auditable, zero-dependency corpus across 5 waste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1" name="TopBar"/>
          <p:cNvSpPr txBox="1"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endParaRPr lang="en-US">
              <a:solidFill>
                <a:srgbClr val="0D3B2E"/>
              </a:solidFill>
            </a:endParaRPr>
          </a:p>
        </p:txBody>
      </p:sp>
      <p:sp>
        <p:nvSpPr>
          <p:cNvPr id="100042" name="TopLabel"/>
          <p:cNvSpPr txBox="1"/>
          <p:nvPr/>
        </p:nvSpPr>
        <p:spPr>
          <a:xfrm>
            <a:off x="540000" y="36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SLIDE 6  |  WORKFLOW DIAGRAM &amp; PROTOTYPE DEMO</a:t>
            </a:r>
          </a:p>
        </p:txBody>
      </p:sp>
      <p:sp>
        <p:nvSpPr>
          <p:cNvPr id="100043" name="SlideTitle"/>
          <p:cNvSpPr txBox="1"/>
          <p:nvPr/>
        </p:nvSpPr>
        <p:spPr>
          <a:xfrm>
            <a:off x="540000" y="576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0D3B2E"/>
                </a:solidFill>
                <a:latin typeface="Calibri"/>
                <a:ea typeface="Calibri"/>
              </a:rPr>
              <a:t>Workflow Diagram &amp; Prototype Demo</a:t>
            </a:r>
          </a:p>
        </p:txBody>
      </p:sp>
      <p:sp>
        <p:nvSpPr>
          <p:cNvPr id="100044" name="WF1"/>
          <p:cNvSpPr txBox="1"/>
          <p:nvPr/>
        </p:nvSpPr>
        <p:spPr>
          <a:xfrm>
            <a:off x="180000" y="1368000"/>
            <a:ext cx="1980000" cy="1260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USER INPUT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Types item name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e.g. 'old banana peel'</a:t>
            </a:r>
          </a:p>
        </p:txBody>
      </p:sp>
      <p:sp>
        <p:nvSpPr>
          <p:cNvPr id="100045" name="WA1"/>
          <p:cNvSpPr txBox="1"/>
          <p:nvPr/>
        </p:nvSpPr>
        <p:spPr>
          <a:xfrm>
            <a:off x="2232000" y="1836000"/>
            <a:ext cx="54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0D3B2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46" name="WF2"/>
          <p:cNvSpPr txBox="1"/>
          <p:nvPr/>
        </p:nvSpPr>
        <p:spPr>
          <a:xfrm>
            <a:off x="2844000" y="1368000"/>
            <a:ext cx="1980000" cy="1260000"/>
          </a:xfrm>
          <a:prstGeom prst="rect">
            <a:avLst/>
          </a:prstGeom>
          <a:solidFill>
            <a:srgbClr val="1D4ED8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NORMALISE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Lowercase + strip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parenthetical tags</a:t>
            </a:r>
          </a:p>
        </p:txBody>
      </p:sp>
      <p:sp>
        <p:nvSpPr>
          <p:cNvPr id="100047" name="WA2"/>
          <p:cNvSpPr txBox="1"/>
          <p:nvPr/>
        </p:nvSpPr>
        <p:spPr>
          <a:xfrm>
            <a:off x="4896000" y="1836000"/>
            <a:ext cx="54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0D3B2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48" name="WF3"/>
          <p:cNvSpPr txBox="1"/>
          <p:nvPr/>
        </p:nvSpPr>
        <p:spPr>
          <a:xfrm>
            <a:off x="5508000" y="1368000"/>
            <a:ext cx="1980000" cy="1260000"/>
          </a:xfrm>
          <a:prstGeom prst="rect">
            <a:avLst/>
          </a:prstGeom>
          <a:solidFill>
            <a:srgbClr val="15803D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RETRIEVE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Keyword match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against 200-item KB</a:t>
            </a:r>
          </a:p>
        </p:txBody>
      </p:sp>
      <p:sp>
        <p:nvSpPr>
          <p:cNvPr id="100049" name="WA3"/>
          <p:cNvSpPr txBox="1"/>
          <p:nvPr/>
        </p:nvSpPr>
        <p:spPr>
          <a:xfrm>
            <a:off x="7560000" y="1836000"/>
            <a:ext cx="54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0D3B2E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50" name="WF4"/>
          <p:cNvSpPr txBox="1"/>
          <p:nvPr/>
        </p:nvSpPr>
        <p:spPr>
          <a:xfrm>
            <a:off x="8172000" y="1368000"/>
            <a:ext cx="1620000" cy="1260000"/>
          </a:xfrm>
          <a:prstGeom prst="rect">
            <a:avLst/>
          </a:prstGeom>
          <a:solidFill>
            <a:srgbClr val="B45309"/>
          </a:solidFill>
        </p:spPr>
        <p:txBody>
          <a:bodyPr/>
          <a:lstStyle/>
          <a:p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MATCH?</a:t>
            </a:r>
          </a:p>
        </p:txBody>
      </p:sp>
      <p:sp>
        <p:nvSpPr>
          <p:cNvPr id="100051" name="WA4Y"/>
          <p:cNvSpPr txBox="1"/>
          <p:nvPr/>
        </p:nvSpPr>
        <p:spPr>
          <a:xfrm>
            <a:off x="8172000" y="2808000"/>
            <a:ext cx="1620000" cy="540000"/>
          </a:xfrm>
          <a:prstGeom prst="rect">
            <a:avLst/>
          </a:prstGeom>
          <a:solidFill>
            <a:srgbClr val="F0FDF4"/>
          </a:solidFill>
        </p:spPr>
        <p:txBody>
          <a:bodyPr/>
          <a:lstStyle/>
          <a:p>
            <a:r>
              <a:rPr lang="en-US" sz="1300">
                <a:solidFill>
                  <a:srgbClr val="15803D"/>
                </a:solidFill>
                <a:latin typeface="Calibri"/>
                <a:ea typeface="Calibri"/>
              </a:rPr>
              <a:t>Yes → Bin name response</a:t>
            </a:r>
          </a:p>
        </p:txBody>
      </p:sp>
      <p:sp>
        <p:nvSpPr>
          <p:cNvPr id="100052" name="WA4N"/>
          <p:cNvSpPr txBox="1"/>
          <p:nvPr/>
        </p:nvSpPr>
        <p:spPr>
          <a:xfrm>
            <a:off x="8172000" y="3420000"/>
            <a:ext cx="1620000" cy="540000"/>
          </a:xfrm>
          <a:prstGeom prst="rect">
            <a:avLst/>
          </a:prstGeom>
          <a:solidFill>
            <a:srgbClr val="FFF1F2"/>
          </a:solidFill>
        </p:spPr>
        <p:txBody>
          <a:bodyPr/>
          <a:lstStyle/>
          <a:p>
            <a:r>
              <a:rPr lang="en-US" sz="1300">
                <a:solidFill>
                  <a:srgbClr val="B91C1C"/>
                </a:solidFill>
                <a:latin typeface="Calibri"/>
                <a:ea typeface="Calibri"/>
              </a:rPr>
              <a:t>No → Polite fallback</a:t>
            </a:r>
          </a:p>
        </p:txBody>
      </p:sp>
      <p:sp>
        <p:nvSpPr>
          <p:cNvPr id="100053" name="DemoTitle"/>
          <p:cNvSpPr txBox="1"/>
          <p:nvPr/>
        </p:nvSpPr>
        <p:spPr>
          <a:xfrm>
            <a:off x="540000" y="2880000"/>
            <a:ext cx="7200000" cy="432000"/>
          </a:xfrm>
          <a:prstGeom prst="rect">
            <a:avLst/>
          </a:prstGeom>
        </p:spPr>
        <p:txBody>
          <a:bodyPr/>
          <a:lstStyle/>
          <a:p>
            <a:r>
              <a:rPr lang="en-US" sz="1900" b="1">
                <a:solidFill>
                  <a:srgbClr val="0D3B2E"/>
                </a:solidFill>
                <a:latin typeface="Calibri"/>
                <a:ea typeface="Calibri"/>
              </a:rPr>
              <a:t>Sample Output — CLI Demo</a:t>
            </a:r>
          </a:p>
        </p:txBody>
      </p:sp>
      <p:sp>
        <p:nvSpPr>
          <p:cNvPr id="100054" name="Demo"/>
          <p:cNvSpPr txBox="1"/>
          <p:nvPr/>
        </p:nvSpPr>
        <p:spPr>
          <a:xfrm>
            <a:off x="540000" y="3419999"/>
            <a:ext cx="7200000" cy="3225897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♻ Campus Waste Guide Assistant</a:t>
            </a:r>
          </a:p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   Knowledge base loaded: 219 entries across 5 bins</a:t>
            </a:r>
          </a:p>
          <a:p>
            <a:endParaRPr lang="en-US" sz="1400" dirty="0">
              <a:solidFill>
                <a:srgbClr val="D1FAE5"/>
              </a:solidFill>
              <a:latin typeface="Courier New"/>
              <a:ea typeface="Courier New"/>
            </a:endParaRPr>
          </a:p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What item are you disposing? banana peel</a:t>
            </a:r>
          </a:p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✅ Please dispose of that in the Green Compost Bin.</a:t>
            </a:r>
          </a:p>
          <a:p>
            <a:endParaRPr lang="en-US" sz="1400" dirty="0">
              <a:solidFill>
                <a:srgbClr val="D1FAE5"/>
              </a:solidFill>
              <a:latin typeface="Courier New"/>
              <a:ea typeface="Courier New"/>
            </a:endParaRPr>
          </a:p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What item are you disposing? old laptop charger</a:t>
            </a:r>
          </a:p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✅ Please dispose of that in the Admin Office E-Waste Drop-off.</a:t>
            </a:r>
          </a:p>
          <a:p>
            <a:endParaRPr lang="en-US" sz="1400" dirty="0">
              <a:solidFill>
                <a:srgbClr val="D1FAE5"/>
              </a:solidFill>
              <a:latin typeface="Courier New"/>
              <a:ea typeface="Courier New"/>
            </a:endParaRPr>
          </a:p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What item are you disposing? broken umbrella</a:t>
            </a:r>
          </a:p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✅ Please dispose of that in the Black General Waste.</a:t>
            </a:r>
          </a:p>
          <a:p>
            <a:endParaRPr lang="en-US" sz="1400" dirty="0">
              <a:solidFill>
                <a:srgbClr val="D1FAE5"/>
              </a:solidFill>
              <a:latin typeface="Courier New"/>
              <a:ea typeface="Courier New"/>
            </a:endParaRPr>
          </a:p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What item are you disposing? sanitary pad</a:t>
            </a:r>
          </a:p>
          <a:p>
            <a:r>
              <a:rPr lang="en-US" sz="1400" dirty="0">
                <a:solidFill>
                  <a:srgbClr val="D1FAE5"/>
                </a:solidFill>
                <a:latin typeface="Courier New"/>
                <a:ea typeface="Courier New"/>
              </a:rPr>
              <a:t>✅ Please dispose of that in the Red Sanitary Waste Bin.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5" name="TopBar"/>
          <p:cNvSpPr txBox="1"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endParaRPr lang="en-US">
              <a:solidFill>
                <a:srgbClr val="0D3B2E"/>
              </a:solidFill>
            </a:endParaRPr>
          </a:p>
        </p:txBody>
      </p:sp>
      <p:sp>
        <p:nvSpPr>
          <p:cNvPr id="100056" name="TopLabel"/>
          <p:cNvSpPr txBox="1"/>
          <p:nvPr/>
        </p:nvSpPr>
        <p:spPr>
          <a:xfrm>
            <a:off x="540000" y="36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SLIDE 7  |  THE 5-BIN KNOWLEDGE BASE</a:t>
            </a:r>
          </a:p>
        </p:txBody>
      </p:sp>
      <p:sp>
        <p:nvSpPr>
          <p:cNvPr id="100057" name="SlideTitle"/>
          <p:cNvSpPr txBox="1"/>
          <p:nvPr/>
        </p:nvSpPr>
        <p:spPr>
          <a:xfrm>
            <a:off x="540000" y="576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0D3B2E"/>
                </a:solidFill>
                <a:latin typeface="Calibri"/>
                <a:ea typeface="Calibri"/>
              </a:rPr>
              <a:t>Knowledge Base — 200 Items, 5 Bins</a:t>
            </a:r>
          </a:p>
        </p:txBody>
      </p:sp>
      <p:sp>
        <p:nvSpPr>
          <p:cNvPr id="100058" name="Bin1"/>
          <p:cNvSpPr txBox="1"/>
          <p:nvPr/>
        </p:nvSpPr>
        <p:spPr>
          <a:xfrm>
            <a:off x="288000" y="1368000"/>
            <a:ext cx="2088000" cy="3600000"/>
          </a:xfrm>
          <a:prstGeom prst="rect">
            <a:avLst/>
          </a:prstGeom>
          <a:solidFill>
            <a:srgbClr val="1D4ED8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♻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BLUE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Recycling Bin</a:t>
            </a:r>
          </a:p>
          <a:p>
            <a:endParaRPr lang="en-US" sz="140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40 items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Bottles · Cans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Paper · Cardboard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Metal · Cartons</a:t>
            </a:r>
          </a:p>
        </p:txBody>
      </p:sp>
      <p:sp>
        <p:nvSpPr>
          <p:cNvPr id="100059" name="Bin2"/>
          <p:cNvSpPr txBox="1"/>
          <p:nvPr/>
        </p:nvSpPr>
        <p:spPr>
          <a:xfrm>
            <a:off x="2520000" y="1368000"/>
            <a:ext cx="2088000" cy="3600000"/>
          </a:xfrm>
          <a:prstGeom prst="rect">
            <a:avLst/>
          </a:prstGeom>
          <a:solidFill>
            <a:srgbClr val="15803D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🌱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GREEN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Compost Bin</a:t>
            </a:r>
          </a:p>
          <a:p>
            <a:endParaRPr lang="en-US" sz="140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40 items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Food scraps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Fruit &amp; veg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Garden waste</a:t>
            </a:r>
          </a:p>
        </p:txBody>
      </p:sp>
      <p:sp>
        <p:nvSpPr>
          <p:cNvPr id="100060" name="Bin3"/>
          <p:cNvSpPr txBox="1"/>
          <p:nvPr/>
        </p:nvSpPr>
        <p:spPr>
          <a:xfrm>
            <a:off x="4752000" y="1368000"/>
            <a:ext cx="2088000" cy="3600000"/>
          </a:xfrm>
          <a:prstGeom prst="rect">
            <a:avLst/>
          </a:prstGeom>
          <a:solidFill>
            <a:srgbClr val="1F2937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🗑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BLACK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General Waste</a:t>
            </a:r>
          </a:p>
          <a:p>
            <a:endParaRPr lang="en-US" sz="140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52 items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Wrappers · Foam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Broken items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Non-recyclables</a:t>
            </a:r>
          </a:p>
        </p:txBody>
      </p:sp>
      <p:sp>
        <p:nvSpPr>
          <p:cNvPr id="100061" name="Bin4"/>
          <p:cNvSpPr txBox="1"/>
          <p:nvPr/>
        </p:nvSpPr>
        <p:spPr>
          <a:xfrm>
            <a:off x="6984000" y="1368000"/>
            <a:ext cx="2088000" cy="3600000"/>
          </a:xfrm>
          <a:prstGeom prst="rect">
            <a:avLst/>
          </a:prstGeom>
          <a:solidFill>
            <a:srgbClr val="B45309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🔋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E-WASTE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Admin Office</a:t>
            </a:r>
          </a:p>
          <a:p>
            <a:endParaRPr lang="en-US" sz="140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40 items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Devices · Cables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Bulbs · Batteries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Networking</a:t>
            </a:r>
          </a:p>
        </p:txBody>
      </p:sp>
      <p:sp>
        <p:nvSpPr>
          <p:cNvPr id="100062" name="Bin5"/>
          <p:cNvSpPr txBox="1"/>
          <p:nvPr/>
        </p:nvSpPr>
        <p:spPr>
          <a:xfrm>
            <a:off x="9216000" y="1368000"/>
            <a:ext cx="2412000" cy="3600000"/>
          </a:xfrm>
          <a:prstGeom prst="rect">
            <a:avLst/>
          </a:prstGeom>
          <a:solidFill>
            <a:srgbClr val="B91C1C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🩺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RED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Sanitary Bin</a:t>
            </a:r>
          </a:p>
          <a:p>
            <a:endParaRPr lang="en-US" sz="140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28 items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Hygiene items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PPE · Diapers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Medical kits</a:t>
            </a:r>
          </a:p>
        </p:txBody>
      </p:sp>
      <p:sp>
        <p:nvSpPr>
          <p:cNvPr id="100063" name="Footer"/>
          <p:cNvSpPr txBox="1"/>
          <p:nvPr/>
        </p:nvSpPr>
        <p:spPr>
          <a:xfrm>
            <a:off x="540000" y="5148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0">
                <a:solidFill>
                  <a:srgbClr val="6B7280"/>
                </a:solidFill>
                <a:latin typeface="Calibri"/>
                <a:ea typeface="Calibri"/>
              </a:rPr>
              <a:t>200 items  ·  5 destinations  ·  0 ambiguity  ·  Loaded dynamically from knowledge_base.txt at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4" name="TopBar"/>
          <p:cNvSpPr txBox="1"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endParaRPr lang="en-US">
              <a:solidFill>
                <a:srgbClr val="0D3B2E"/>
              </a:solidFill>
            </a:endParaRPr>
          </a:p>
        </p:txBody>
      </p:sp>
      <p:sp>
        <p:nvSpPr>
          <p:cNvPr id="100065" name="TopLabel"/>
          <p:cNvSpPr txBox="1"/>
          <p:nvPr/>
        </p:nvSpPr>
        <p:spPr>
          <a:xfrm>
            <a:off x="540000" y="36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SLIDE 8  |  RESPONSIBLE AI CONSIDERATIONS (MANDATORY)</a:t>
            </a:r>
          </a:p>
        </p:txBody>
      </p:sp>
      <p:sp>
        <p:nvSpPr>
          <p:cNvPr id="100066" name="SlideTitle"/>
          <p:cNvSpPr txBox="1"/>
          <p:nvPr/>
        </p:nvSpPr>
        <p:spPr>
          <a:xfrm>
            <a:off x="540000" y="576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0D3B2E"/>
                </a:solidFill>
                <a:latin typeface="Calibri"/>
                <a:ea typeface="Calibri"/>
              </a:rPr>
              <a:t>Responsible AI Considerations</a:t>
            </a:r>
          </a:p>
        </p:txBody>
      </p:sp>
      <p:sp>
        <p:nvSpPr>
          <p:cNvPr id="100067" name="P1"/>
          <p:cNvSpPr txBox="1"/>
          <p:nvPr/>
        </p:nvSpPr>
        <p:spPr>
          <a:xfrm>
            <a:off x="540000" y="1368000"/>
            <a:ext cx="5220000" cy="1260000"/>
          </a:xfrm>
          <a:prstGeom prst="rect">
            <a:avLst/>
          </a:prstGeom>
          <a:solidFill>
            <a:srgbClr val="F0FDF4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⚖  FAIRNESS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No bias in data or assumptions. All campus users — students, staff, canteen workers — receive identical, consistent guidance regardless of who asks.</a:t>
            </a:r>
          </a:p>
        </p:txBody>
      </p:sp>
      <p:sp>
        <p:nvSpPr>
          <p:cNvPr id="100068" name="P2"/>
          <p:cNvSpPr txBox="1"/>
          <p:nvPr/>
        </p:nvSpPr>
        <p:spPr>
          <a:xfrm>
            <a:off x="6300000" y="1368000"/>
            <a:ext cx="5220000" cy="1260000"/>
          </a:xfrm>
          <a:prstGeom prst="rect">
            <a:avLst/>
          </a:prstGeom>
          <a:solidFill>
            <a:srgbClr val="EFF6FF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🔍  TRANSPARENCY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All rules stored in human-readable knowledge_base.txt — any staff member can read, verify, and update them without technical knowledge.</a:t>
            </a:r>
          </a:p>
        </p:txBody>
      </p:sp>
      <p:sp>
        <p:nvSpPr>
          <p:cNvPr id="100069" name="P3"/>
          <p:cNvSpPr txBox="1"/>
          <p:nvPr/>
        </p:nvSpPr>
        <p:spPr>
          <a:xfrm>
            <a:off x="540000" y="2880000"/>
            <a:ext cx="5220000" cy="1260000"/>
          </a:xfrm>
          <a:prstGeom prst="rect">
            <a:avLst/>
          </a:prstGeom>
          <a:solidFill>
            <a:srgbClr val="FFF7ED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🛡  ETHICS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No harmful, discriminatory, or misleading outputs. The chatbot only answers waste disposal questions. Fallback prevents incorrect guidance.</a:t>
            </a:r>
          </a:p>
        </p:txBody>
      </p:sp>
      <p:sp>
        <p:nvSpPr>
          <p:cNvPr id="100070" name="P4"/>
          <p:cNvSpPr txBox="1"/>
          <p:nvPr/>
        </p:nvSpPr>
        <p:spPr>
          <a:xfrm>
            <a:off x="6300000" y="2880000"/>
            <a:ext cx="5220000" cy="1260000"/>
          </a:xfrm>
          <a:prstGeom prst="rect">
            <a:avLst/>
          </a:prstGeom>
          <a:solidFill>
            <a:srgbClr val="FFF1F2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🔒  PRIVACY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Zero personal data collected. No login, no tracking, no analytics. Completely anonymous usage — no user profiling of any kind.</a:t>
            </a:r>
          </a:p>
        </p:txBody>
      </p:sp>
      <p:sp>
        <p:nvSpPr>
          <p:cNvPr id="100071" name="P5"/>
          <p:cNvSpPr txBox="1"/>
          <p:nvPr/>
        </p:nvSpPr>
        <p:spPr>
          <a:xfrm>
            <a:off x="540000" y="4392000"/>
            <a:ext cx="5220000" cy="1080000"/>
          </a:xfrm>
          <a:prstGeom prst="rect">
            <a:avLst/>
          </a:prstGeom>
          <a:solidFill>
            <a:srgbClr val="F5F3FF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👁  HUMAN OVERSIGHT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Fallback response always directs uncertain users to physical bin labels — AI never fabricates an answer when unsure.</a:t>
            </a:r>
          </a:p>
        </p:txBody>
      </p:sp>
      <p:sp>
        <p:nvSpPr>
          <p:cNvPr id="100072" name="P6"/>
          <p:cNvSpPr txBox="1"/>
          <p:nvPr/>
        </p:nvSpPr>
        <p:spPr>
          <a:xfrm>
            <a:off x="6300000" y="4392000"/>
            <a:ext cx="5220000" cy="1080000"/>
          </a:xfrm>
          <a:prstGeom prst="rect">
            <a:avLst/>
          </a:prstGeom>
          <a:solidFill>
            <a:srgbClr val="ECFDF5"/>
          </a:solidFill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💡  EXPLAINABILITY</a:t>
            </a:r>
          </a:p>
          <a:p>
            <a:r>
              <a:rPr lang="en-US" sz="1600">
                <a:solidFill>
                  <a:srgbClr val="1F2937"/>
                </a:solidFill>
                <a:latin typeface="Calibri"/>
                <a:ea typeface="Calibri"/>
              </a:rPr>
              <a:t>Every response names the exact bin — not just a colour. Users understand why, not just what. Rules are fully auditable.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3" name="TopBar"/>
          <p:cNvSpPr txBox="1"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endParaRPr lang="en-US">
              <a:solidFill>
                <a:srgbClr val="0D3B2E"/>
              </a:solidFill>
            </a:endParaRPr>
          </a:p>
        </p:txBody>
      </p:sp>
      <p:sp>
        <p:nvSpPr>
          <p:cNvPr id="100074" name="TopLabel"/>
          <p:cNvSpPr txBox="1"/>
          <p:nvPr/>
        </p:nvSpPr>
        <p:spPr>
          <a:xfrm>
            <a:off x="540000" y="36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SLIDE 9  |  EXPECTED IMPACT &amp; DESIGN THINKING</a:t>
            </a:r>
          </a:p>
        </p:txBody>
      </p:sp>
      <p:sp>
        <p:nvSpPr>
          <p:cNvPr id="100075" name="SlideTitle"/>
          <p:cNvSpPr txBox="1"/>
          <p:nvPr/>
        </p:nvSpPr>
        <p:spPr>
          <a:xfrm>
            <a:off x="540000" y="576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>
                <a:solidFill>
                  <a:srgbClr val="0D3B2E"/>
                </a:solidFill>
                <a:latin typeface="Calibri"/>
                <a:ea typeface="Calibri"/>
              </a:rPr>
              <a:t>Expected Impact &amp; Design Thinking</a:t>
            </a:r>
          </a:p>
        </p:txBody>
      </p:sp>
      <p:sp>
        <p:nvSpPr>
          <p:cNvPr id="100076" name="Impact"/>
          <p:cNvSpPr txBox="1"/>
          <p:nvPr/>
        </p:nvSpPr>
        <p:spPr>
          <a:xfrm>
            <a:off x="540000" y="1368000"/>
            <a:ext cx="10800000" cy="1980000"/>
          </a:xfrm>
          <a:prstGeom prst="rect">
            <a:avLst/>
          </a:prstGeom>
          <a:solidFill>
            <a:srgbClr val="F0FDF4"/>
          </a:solidFill>
        </p:spPr>
        <p:txBody>
          <a:bodyPr/>
          <a:lstStyle/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What changes if this solution is implemented?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Waste misclassification drops at the point of disposal — guidance is instant and always available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Recyclable diversion from general waste increases — measurable sustainability impact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E-waste reaches proper drop-off instead of landfill — reduces toxic contamination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Students build long-term habits through repeated correct interactions</a:t>
            </a:r>
          </a:p>
          <a:p>
            <a:r>
              <a:rPr lang="en-US" sz="1700">
                <a:solidFill>
                  <a:srgbClr val="1F2937"/>
                </a:solidFill>
                <a:latin typeface="Calibri"/>
                <a:ea typeface="Calibri"/>
              </a:rPr>
              <a:t>• Campus sustainability KPIs improve without costly infrastructure changes</a:t>
            </a:r>
          </a:p>
        </p:txBody>
      </p:sp>
      <p:sp>
        <p:nvSpPr>
          <p:cNvPr id="100077" name="DTTitle"/>
          <p:cNvSpPr txBox="1"/>
          <p:nvPr/>
        </p:nvSpPr>
        <p:spPr>
          <a:xfrm>
            <a:off x="540000" y="3528000"/>
            <a:ext cx="10800000" cy="432000"/>
          </a:xfrm>
          <a:prstGeom prst="rect">
            <a:avLst/>
          </a:prstGeom>
        </p:spPr>
        <p:txBody>
          <a:bodyPr/>
          <a:lstStyle/>
          <a:p>
            <a:r>
              <a:rPr lang="en-US" sz="1900" b="1">
                <a:solidFill>
                  <a:srgbClr val="0D3B2E"/>
                </a:solidFill>
                <a:latin typeface="Calibri"/>
                <a:ea typeface="Calibri"/>
              </a:rPr>
              <a:t>Design Thinking Stages Applied</a:t>
            </a:r>
          </a:p>
        </p:txBody>
      </p:sp>
      <p:sp>
        <p:nvSpPr>
          <p:cNvPr id="100078" name="DT1"/>
          <p:cNvSpPr txBox="1"/>
          <p:nvPr/>
        </p:nvSpPr>
        <p:spPr>
          <a:xfrm>
            <a:off x="540000" y="4032000"/>
            <a:ext cx="1980000" cy="1008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Empathize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Observed campus bin misuse daily</a:t>
            </a:r>
          </a:p>
        </p:txBody>
      </p:sp>
      <p:sp>
        <p:nvSpPr>
          <p:cNvPr id="100079" name="DT2"/>
          <p:cNvSpPr txBox="1"/>
          <p:nvPr/>
        </p:nvSpPr>
        <p:spPr>
          <a:xfrm>
            <a:off x="2700000" y="4032000"/>
            <a:ext cx="1980000" cy="1008000"/>
          </a:xfrm>
          <a:prstGeom prst="rect">
            <a:avLst/>
          </a:prstGeom>
          <a:solidFill>
            <a:srgbClr val="1A5C42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Define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Problem statement + user gaps</a:t>
            </a:r>
          </a:p>
        </p:txBody>
      </p:sp>
      <p:sp>
        <p:nvSpPr>
          <p:cNvPr id="100080" name="DT3"/>
          <p:cNvSpPr txBox="1"/>
          <p:nvPr/>
        </p:nvSpPr>
        <p:spPr>
          <a:xfrm>
            <a:off x="4860000" y="4032000"/>
            <a:ext cx="1980000" cy="1008000"/>
          </a:xfrm>
          <a:prstGeom prst="rect">
            <a:avLst/>
          </a:prstGeom>
          <a:solidFill>
            <a:srgbClr val="1D4ED8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Ideate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RAG chatbot — no API needed</a:t>
            </a:r>
          </a:p>
        </p:txBody>
      </p:sp>
      <p:sp>
        <p:nvSpPr>
          <p:cNvPr id="100081" name="DT4"/>
          <p:cNvSpPr txBox="1"/>
          <p:nvPr/>
        </p:nvSpPr>
        <p:spPr>
          <a:xfrm>
            <a:off x="7020000" y="4032000"/>
            <a:ext cx="1980000" cy="1008000"/>
          </a:xfrm>
          <a:prstGeom prst="rect">
            <a:avLst/>
          </a:prstGeom>
          <a:solidFill>
            <a:srgbClr val="B45309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Prototype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CLI chatbot + 200-item KB</a:t>
            </a:r>
          </a:p>
        </p:txBody>
      </p:sp>
      <p:sp>
        <p:nvSpPr>
          <p:cNvPr id="100082" name="DT5"/>
          <p:cNvSpPr txBox="1"/>
          <p:nvPr/>
        </p:nvSpPr>
        <p:spPr>
          <a:xfrm>
            <a:off x="9180000" y="4032000"/>
            <a:ext cx="2448000" cy="1008000"/>
          </a:xfrm>
          <a:prstGeom prst="rect">
            <a:avLst/>
          </a:prstGeom>
          <a:solidFill>
            <a:srgbClr val="B91C1C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Test &amp; Refine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Analysis script — 10/10 tests passed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3" name="GreenBar"/>
          <p:cNvSpPr txBox="1"/>
          <p:nvPr/>
        </p:nvSpPr>
        <p:spPr>
          <a:xfrm>
            <a:off x="0" y="4320000"/>
            <a:ext cx="12193200" cy="2588400"/>
          </a:xfrm>
          <a:prstGeom prst="rect">
            <a:avLst/>
          </a:prstGeom>
          <a:solidFill>
            <a:srgbClr val="1A5C42"/>
          </a:solidFill>
        </p:spPr>
        <p:txBody>
          <a:bodyPr/>
          <a:lstStyle/>
          <a:p>
            <a:endParaRPr lang="en-US">
              <a:solidFill>
                <a:srgbClr val="1A5C42"/>
              </a:solidFill>
            </a:endParaRPr>
          </a:p>
        </p:txBody>
      </p:sp>
      <p:sp>
        <p:nvSpPr>
          <p:cNvPr id="100084" name="SlideTitle"/>
          <p:cNvSpPr txBox="1"/>
          <p:nvPr/>
        </p:nvSpPr>
        <p:spPr>
          <a:xfrm>
            <a:off x="540000" y="360000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  <a:latin typeface="Calibri"/>
                <a:ea typeface="Calibri"/>
              </a:rPr>
              <a:t>Project Files &amp; GitHub / Demo Links</a:t>
            </a:r>
          </a:p>
        </p:txBody>
      </p:sp>
      <p:sp>
        <p:nvSpPr>
          <p:cNvPr id="100085" name="Files"/>
          <p:cNvSpPr txBox="1"/>
          <p:nvPr/>
        </p:nvSpPr>
        <p:spPr>
          <a:xfrm>
            <a:off x="540000" y="1152000"/>
            <a:ext cx="10800000" cy="216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D1FAE5"/>
                </a:solidFill>
                <a:latin typeface="Calibri"/>
                <a:ea typeface="Calibri"/>
              </a:rPr>
              <a:t>Project Files Submitted</a:t>
            </a:r>
          </a:p>
          <a:p>
            <a:r>
              <a:rPr lang="en-US" sz="1700">
                <a:solidFill>
                  <a:srgbClr val="D1FAE5"/>
                </a:solidFill>
                <a:latin typeface="Calibri"/>
                <a:ea typeface="Calibri"/>
              </a:rPr>
              <a:t>• knowledge_base.txt   — 200-item waste segregation knowledge base (5 categories)</a:t>
            </a:r>
          </a:p>
          <a:p>
            <a:r>
              <a:rPr lang="en-US" sz="1700">
                <a:solidFill>
                  <a:srgbClr val="D1FAE5"/>
                </a:solidFill>
                <a:latin typeface="Calibri"/>
                <a:ea typeface="Calibri"/>
              </a:rPr>
              <a:t>• waste_assistant.py   — CLI chatbot loading KB dynamically via RAG pipeline</a:t>
            </a:r>
          </a:p>
          <a:p>
            <a:r>
              <a:rPr lang="en-US" sz="1700">
                <a:solidFill>
                  <a:srgbClr val="D1FAE5"/>
                </a:solidFill>
                <a:latin typeface="Calibri"/>
                <a:ea typeface="Calibri"/>
              </a:rPr>
              <a:t>• analyse_knowledge_base.py — automated analysis &amp; test script (10/10 tests passed)</a:t>
            </a:r>
          </a:p>
          <a:p>
            <a:r>
              <a:rPr lang="en-US" sz="1700">
                <a:solidFill>
                  <a:srgbClr val="D1FAE5"/>
                </a:solidFill>
                <a:latin typeface="Calibri"/>
                <a:ea typeface="Calibri"/>
              </a:rPr>
              <a:t>• CampusWasteGuide_v2.pptx  — visual presentation deck (12 slides)</a:t>
            </a:r>
          </a:p>
          <a:p>
            <a:r>
              <a:rPr lang="en-US" sz="1700">
                <a:solidFill>
                  <a:srgbClr val="D1FAE5"/>
                </a:solidFill>
                <a:latin typeface="Calibri"/>
                <a:ea typeface="Calibri"/>
              </a:rPr>
              <a:t>• AGENTS.md            — project documentation and conventions</a:t>
            </a:r>
          </a:p>
        </p:txBody>
      </p:sp>
      <p:sp>
        <p:nvSpPr>
          <p:cNvPr id="100086" name="LinksTitle"/>
          <p:cNvSpPr txBox="1"/>
          <p:nvPr/>
        </p:nvSpPr>
        <p:spPr>
          <a:xfrm>
            <a:off x="540000" y="3420000"/>
            <a:ext cx="10800000" cy="432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Demo / Prototype / GitHub</a:t>
            </a:r>
          </a:p>
        </p:txBody>
      </p:sp>
      <p:sp>
        <p:nvSpPr>
          <p:cNvPr id="100087" name="Links"/>
          <p:cNvSpPr txBox="1"/>
          <p:nvPr/>
        </p:nvSpPr>
        <p:spPr>
          <a:xfrm>
            <a:off x="540000" y="4500000"/>
            <a:ext cx="10800000" cy="1440000"/>
          </a:xfrm>
          <a:prstGeom prst="rect">
            <a:avLst/>
          </a:prstGeom>
          <a:solidFill>
            <a:srgbClr val="1A5C42"/>
          </a:solidFill>
        </p:spPr>
        <p:txBody>
          <a:bodyPr/>
          <a:lstStyle/>
          <a:p>
            <a:r>
              <a:rPr lang="en-US" sz="1600" dirty="0">
                <a:solidFill>
                  <a:srgbClr val="FFFFFF"/>
                </a:solidFill>
                <a:latin typeface="Courier New"/>
                <a:ea typeface="Courier New"/>
              </a:rPr>
              <a:t>GitHub Repository  : https://github.com/lokapurebhagyashree/CampusWasteGuide</a:t>
            </a:r>
          </a:p>
          <a:p>
            <a:r>
              <a:rPr lang="en-US" sz="1600" dirty="0">
                <a:solidFill>
                  <a:srgbClr val="FFFFFF"/>
                </a:solidFill>
                <a:latin typeface="Courier New"/>
                <a:ea typeface="Courier New"/>
              </a:rPr>
              <a:t>Live Demo          : Run  python waste_assistant.py  locally (no internet required)</a:t>
            </a:r>
          </a:p>
          <a:p>
            <a:r>
              <a:rPr lang="en-US" sz="1600" dirty="0">
                <a:solidFill>
                  <a:srgbClr val="FFFFFF"/>
                </a:solidFill>
                <a:latin typeface="Courier New"/>
                <a:ea typeface="Courier New"/>
              </a:rPr>
              <a:t>Prototype Folder   : </a:t>
            </a:r>
            <a:r>
              <a:rPr lang="en-US" sz="1600" dirty="0" err="1">
                <a:solidFill>
                  <a:srgbClr val="FFFFFF"/>
                </a:solidFill>
                <a:latin typeface="Courier New"/>
                <a:ea typeface="Courier New"/>
              </a:rPr>
              <a:t>CampusWasteGuide</a:t>
            </a:r>
            <a:r>
              <a:rPr lang="en-US" sz="1600" dirty="0">
                <a:solidFill>
                  <a:srgbClr val="FFFFFF"/>
                </a:solidFill>
                <a:latin typeface="Courier New"/>
                <a:ea typeface="Courier New"/>
              </a:rPr>
              <a:t>\  (all files in workspace)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63EA29-0A6C-4DF3-8E49-81709E84C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20" y="1583702"/>
            <a:ext cx="11354784" cy="5126237"/>
          </a:xfrm>
          <a:prstGeom prst="rect">
            <a:avLst/>
          </a:prstGeom>
        </p:spPr>
      </p:pic>
      <p:sp>
        <p:nvSpPr>
          <p:cNvPr id="8" name="TopBar">
            <a:extLst>
              <a:ext uri="{FF2B5EF4-FFF2-40B4-BE49-F238E27FC236}">
                <a16:creationId xmlns:a16="http://schemas.microsoft.com/office/drawing/2014/main" id="{64E42950-AFF8-431A-9BCE-6F8C80E9CA55}"/>
              </a:ext>
            </a:extLst>
          </p:cNvPr>
          <p:cNvSpPr txBox="1"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D3B2E"/>
          </a:solidFill>
        </p:spPr>
        <p:txBody>
          <a:bodyPr/>
          <a:lstStyle/>
          <a:p>
            <a:endParaRPr lang="en-US">
              <a:solidFill>
                <a:srgbClr val="0D3B2E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8B08C53-4013-48D7-95CC-924D437363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Title">
            <a:extLst>
              <a:ext uri="{FF2B5EF4-FFF2-40B4-BE49-F238E27FC236}">
                <a16:creationId xmlns:a16="http://schemas.microsoft.com/office/drawing/2014/main" id="{13DEE959-9F86-4807-97A6-2D3AA2B80909}"/>
              </a:ext>
            </a:extLst>
          </p:cNvPr>
          <p:cNvSpPr txBox="1"/>
          <p:nvPr/>
        </p:nvSpPr>
        <p:spPr>
          <a:xfrm>
            <a:off x="426878" y="683851"/>
            <a:ext cx="10800000" cy="648000"/>
          </a:xfrm>
          <a:prstGeom prst="rect">
            <a:avLst/>
          </a:prstGeom>
        </p:spPr>
        <p:txBody>
          <a:bodyPr/>
          <a:lstStyle/>
          <a:p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</a:rPr>
              <a:t>Screenshot</a:t>
            </a:r>
          </a:p>
        </p:txBody>
      </p:sp>
    </p:spTree>
    <p:extLst>
      <p:ext uri="{BB962C8B-B14F-4D97-AF65-F5344CB8AC3E}">
        <p14:creationId xmlns:p14="http://schemas.microsoft.com/office/powerpoint/2010/main" val="3629145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8" name="GreenBar"/>
          <p:cNvSpPr txBox="1"/>
          <p:nvPr/>
        </p:nvSpPr>
        <p:spPr>
          <a:xfrm>
            <a:off x="0" y="4680000"/>
            <a:ext cx="12193200" cy="2228400"/>
          </a:xfrm>
          <a:prstGeom prst="rect">
            <a:avLst/>
          </a:prstGeom>
          <a:solidFill>
            <a:srgbClr val="1A5C42"/>
          </a:solidFill>
        </p:spPr>
        <p:txBody>
          <a:bodyPr/>
          <a:lstStyle/>
          <a:p>
            <a:endParaRPr lang="en-US">
              <a:solidFill>
                <a:srgbClr val="1A5C42"/>
              </a:solidFill>
            </a:endParaRPr>
          </a:p>
        </p:txBody>
      </p:sp>
      <p:sp>
        <p:nvSpPr>
          <p:cNvPr id="100089" name="Icon"/>
          <p:cNvSpPr txBox="1"/>
          <p:nvPr/>
        </p:nvSpPr>
        <p:spPr>
          <a:xfrm>
            <a:off x="540000" y="360000"/>
            <a:ext cx="1800000" cy="1800000"/>
          </a:xfrm>
          <a:prstGeom prst="rect">
            <a:avLst/>
          </a:prstGeom>
        </p:spPr>
        <p:txBody>
          <a:bodyPr/>
          <a:lstStyle/>
          <a:p>
            <a:r>
              <a:rPr lang="en-US" sz="7200">
                <a:solidFill>
                  <a:srgbClr val="4ADE80"/>
                </a:solidFill>
                <a:latin typeface="Segoe UI Emoji"/>
                <a:ea typeface="Segoe UI Emoji"/>
              </a:rPr>
              <a:t>♻</a:t>
            </a:r>
          </a:p>
        </p:txBody>
      </p:sp>
      <p:sp>
        <p:nvSpPr>
          <p:cNvPr id="100090" name="ClosingTitle"/>
          <p:cNvSpPr txBox="1"/>
          <p:nvPr/>
        </p:nvSpPr>
        <p:spPr>
          <a:xfrm>
            <a:off x="2520000" y="540000"/>
            <a:ext cx="9000000" cy="1080000"/>
          </a:xfrm>
          <a:prstGeom prst="rect">
            <a:avLst/>
          </a:prstGeom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091" name="Tagline"/>
          <p:cNvSpPr txBox="1"/>
          <p:nvPr/>
        </p:nvSpPr>
        <p:spPr>
          <a:xfrm>
            <a:off x="2520000" y="1800000"/>
            <a:ext cx="9000000" cy="648000"/>
          </a:xfrm>
          <a:prstGeom prst="rect">
            <a:avLst/>
          </a:prstGeom>
        </p:spPr>
        <p:txBody>
          <a:bodyPr/>
          <a:lstStyle/>
          <a:p>
            <a:r>
              <a:rPr lang="en-US" sz="2400" b="0">
                <a:solidFill>
                  <a:srgbClr val="86EFAC"/>
                </a:solidFill>
                <a:latin typeface="Calibri"/>
                <a:ea typeface="Calibri"/>
              </a:rPr>
              <a:t>Ask it.  Bin it.  Do it right.</a:t>
            </a:r>
          </a:p>
        </p:txBody>
      </p:sp>
      <p:sp>
        <p:nvSpPr>
          <p:cNvPr id="100092" name="Quote"/>
          <p:cNvSpPr txBox="1"/>
          <p:nvPr/>
        </p:nvSpPr>
        <p:spPr>
          <a:xfrm>
            <a:off x="540000" y="2700000"/>
            <a:ext cx="10800000" cy="1440000"/>
          </a:xfrm>
          <a:prstGeom prst="rect">
            <a:avLst/>
          </a:prstGeom>
        </p:spPr>
        <p:txBody>
          <a:bodyPr/>
          <a:lstStyle/>
          <a:p>
            <a:r>
              <a:rPr lang="en-US" sz="1600" b="0">
                <a:solidFill>
                  <a:srgbClr val="A7F3D0"/>
                </a:solidFill>
                <a:latin typeface="Calibri"/>
                <a:ea typeface="Calibri"/>
              </a:rPr>
              <a:t>"You are not expected to solve the entire world's problem.</a:t>
            </a:r>
          </a:p>
          <a:p>
            <a:r>
              <a:rPr lang="en-US" sz="1600" b="0">
                <a:solidFill>
                  <a:srgbClr val="A7F3D0"/>
                </a:solidFill>
                <a:latin typeface="Calibri"/>
                <a:ea typeface="Calibri"/>
              </a:rPr>
              <a:t>You are expected to think critically, apply AI responsibly,</a:t>
            </a:r>
          </a:p>
          <a:p>
            <a:r>
              <a:rPr lang="en-US" sz="1600" b="0">
                <a:solidFill>
                  <a:srgbClr val="A7F3D0"/>
                </a:solidFill>
                <a:latin typeface="Calibri"/>
                <a:ea typeface="Calibri"/>
              </a:rPr>
              <a:t>design with purpose, and build for impact."</a:t>
            </a:r>
          </a:p>
          <a:p>
            <a:r>
              <a:rPr lang="en-US" sz="1600" b="0">
                <a:solidFill>
                  <a:srgbClr val="A7F3D0"/>
                </a:solidFill>
                <a:latin typeface="Calibri"/>
                <a:ea typeface="Calibri"/>
              </a:rPr>
              <a:t>— 1M1B AI for Sustainability Internship Guidelines</a:t>
            </a:r>
          </a:p>
        </p:txBody>
      </p:sp>
      <p:sp>
        <p:nvSpPr>
          <p:cNvPr id="100093" name="BottomL"/>
          <p:cNvSpPr txBox="1"/>
          <p:nvPr/>
        </p:nvSpPr>
        <p:spPr>
          <a:xfrm>
            <a:off x="540000" y="4860000"/>
            <a:ext cx="5059522" cy="1003472"/>
          </a:xfrm>
          <a:prstGeom prst="rect">
            <a:avLst/>
          </a:prstGeom>
        </p:spPr>
        <p:txBody>
          <a:bodyPr/>
          <a:lstStyle/>
          <a:p>
            <a:r>
              <a:rPr lang="en-US" sz="1500" dirty="0" err="1">
                <a:solidFill>
                  <a:srgbClr val="FFFFFF"/>
                </a:solidFill>
                <a:latin typeface="Calibri"/>
                <a:ea typeface="Calibri"/>
              </a:rPr>
              <a:t>Bhagyashree</a:t>
            </a:r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/>
                <a:ea typeface="Calibri"/>
              </a:rPr>
              <a:t>Sushilkumar</a:t>
            </a:r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/>
                <a:ea typeface="Calibri"/>
              </a:rPr>
              <a:t>Lokapure</a:t>
            </a:r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</a:rPr>
              <a:t>  |  Indira Gandhi National Open University (IGNOU)</a:t>
            </a:r>
          </a:p>
        </p:txBody>
      </p:sp>
      <p:sp>
        <p:nvSpPr>
          <p:cNvPr id="100094" name="BottomR"/>
          <p:cNvSpPr txBox="1"/>
          <p:nvPr/>
        </p:nvSpPr>
        <p:spPr>
          <a:xfrm>
            <a:off x="6120000" y="4860000"/>
            <a:ext cx="4598276" cy="360000"/>
          </a:xfrm>
          <a:prstGeom prst="rect">
            <a:avLst/>
          </a:prstGeom>
        </p:spPr>
        <p:txBody>
          <a:bodyPr/>
          <a:lstStyle/>
          <a:p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</a:rPr>
              <a:t>1M1B – IBM </a:t>
            </a:r>
            <a:r>
              <a:rPr lang="en-US" sz="1500" dirty="0" err="1">
                <a:solidFill>
                  <a:srgbClr val="FFFFFF"/>
                </a:solidFill>
                <a:latin typeface="Calibri"/>
                <a:ea typeface="Calibri"/>
              </a:rPr>
              <a:t>SkillsBuild</a:t>
            </a:r>
            <a:r>
              <a:rPr lang="en-US" sz="1500" dirty="0">
                <a:solidFill>
                  <a:srgbClr val="FFFFFF"/>
                </a:solidFill>
                <a:latin typeface="Calibri"/>
                <a:ea typeface="Calibri"/>
              </a:rPr>
              <a:t> &amp; AICTE  |  July–Sep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1431</Words>
  <Application>Microsoft Office PowerPoint</Application>
  <PresentationFormat>Widescreen</PresentationFormat>
  <Paragraphs>212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OfficeCLI</dc:creator>
  <cp:lastModifiedBy>Satvik</cp:lastModifiedBy>
  <cp:revision>4</cp:revision>
  <dcterms:created xsi:type="dcterms:W3CDTF">2026-09-21T13:02:26Z</dcterms:created>
  <dcterms:modified xsi:type="dcterms:W3CDTF">2026-09-21T15:33:04Z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1.0.151</vt:lpwstr>
  </property>
  <property fmtid="{D5CDD505-2E9C-101B-9397-08002B2CF9AE}" pid="3" name="OfficeCLI.LastModified">
    <vt:lpwstr>2026-09-21T13:02:28Z</vt:lpwstr>
  </property>
</Properties>
</file>